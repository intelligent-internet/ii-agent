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828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[COMPANY NAME]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C8C8"/>
                </a:solidFill>
              </a:defRPr>
            </a:pPr>
            <a:r>
              <a:t>Investment Analysis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1. Executive Summary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2. Company Overview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3. Industry Analysis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4. Competitive Positioning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5. Financial Analysis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6. Valuation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7. Transaction Analysis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8. Investment Thesis &amp; Risks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9. Appendix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2563EB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Investment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[Highlight 1: Market leadership position in attractive end market]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[Highlight 2: Strong recurring revenue base with high retention]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[Highlight 3: Multiple levers for margin expansion]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[Highlight 4: Experienced management team with aligned incentives]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[Highlight 5: Clear path to value creation through operational improvements]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Transaction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Commentary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Enterprise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 million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 LTM EBITDA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Equity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 million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 LTM Net Income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LTM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 million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 growth YoY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LTM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 million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 margin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Total Leverage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Senior + Sub debt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Sponsor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 million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 of total cap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2563EB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Company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Business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Company Background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Founded in [YEAR], headquartered in [LOCATION]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[Brief description of core business and products/services]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[Number of employees, locations, key geographies]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Key Business Segments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[Segment 1]: XX% of revenue - [Description]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[Segment 2]: XX% of revenue - [Description]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[Segment 3]: XX% of revenue - [Description]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Revenue Breakdown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Revenue ($M)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Growth Rate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Margin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Segment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+X%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Segment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+X%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Segment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+X%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+X%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Customer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Customer Base Profile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Total customers: [X,XXX]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Average contract value: $[XX,XXX]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Customer retention rate: [XX%]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Top Customer Concentration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Top 10 customers: XX% of revenue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Largest customer: XX% of revenue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Average relationship tenure: [X] years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Customer Segments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[Enterprise / Mid-Market / SMB breakdown]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2563EB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Industry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Market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Total Addressable Market (TAM)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Global market size: $XX billion (2024)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Expected CAGR: X% (2024-2029)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North America: $XX billion (XX% of global)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Key Market Drivers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[Driver 1: e.g., Digital transformation]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[Driver 2: e.g., Regulatory changes]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[Driver 3: e.g., Demographic shifts]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Market Headwinds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[Risk 1]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[Risk 2]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Porter's Five Forces Analysis</a:t>
            </a:r>
          </a:p>
        </p:txBody>
      </p:sp>
      <p:sp>
        <p:nvSpPr>
          <p:cNvPr id="4" name="Oval 3"/>
          <p:cNvSpPr/>
          <p:nvPr/>
        </p:nvSpPr>
        <p:spPr>
          <a:xfrm>
            <a:off x="4800600" y="2926080"/>
            <a:ext cx="2560320" cy="13716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92040" y="32004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Competitive</a:t>
            </a:r>
            <a:br/>
            <a:r>
              <a:t>Rivalry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188720"/>
            <a:ext cx="256032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92040" y="13716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5F"/>
                </a:solidFill>
              </a:defRPr>
            </a:pPr>
            <a:r>
              <a:t>Threat of</a:t>
            </a:r>
            <a:br/>
            <a:r>
              <a:t>New Entrants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4846320"/>
            <a:ext cx="256032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92040" y="50292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5F"/>
                </a:solidFill>
              </a:defRPr>
            </a:pPr>
            <a:r>
              <a:t>Threat of</a:t>
            </a:r>
            <a:br/>
            <a:r>
              <a:t>Substitutes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926080"/>
            <a:ext cx="256032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5F"/>
                </a:solidFill>
              </a:defRPr>
            </a:pPr>
            <a:r>
              <a:t>Supplier</a:t>
            </a:r>
            <a:br/>
            <a:r>
              <a:t>Power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926080"/>
            <a:ext cx="256032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3A5F"/>
                </a:solidFill>
              </a:defRPr>
            </a:pPr>
            <a:r>
              <a:t>Buyer</a:t>
            </a:r>
            <a:br/>
            <a:r>
              <a:t>Power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Industry Value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Upstream (Suppliers)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[Raw materials / components suppliers]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[Technology / IP providers]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Midstream (Operations)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[Manufacturing / service delivery]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[Distribution / logistics]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Downstream (Customers)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[End customers / channel partners]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[After-market services]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Company's Position: [Description of where company sits in value chain]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2563EB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Competitive Positioning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Competitive Landscape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Competitor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Market Share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Strengths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Weaknesses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Company (Target)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[Strength]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[Weakness]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Competitor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[Strength]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[Weakness]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Competitor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[Strength]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[Weakness]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Competitor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[Strength]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[Weakness]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SWOT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029200" cy="2468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[Market leadership]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[Proprietary technology]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[Strong customer relationships]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[Experienced team]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029200" cy="2468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4630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[Customer concentration]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[Geographic limitations]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[Technology gaps]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[Working capital intensity]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23360"/>
            <a:ext cx="5029200" cy="2468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OPPORTUNITIES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[New market expansion]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[Product line extension]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[M&amp;A / tuck-ins]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[Pricing optimization]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023360"/>
            <a:ext cx="5029200" cy="2468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41148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THREATS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4805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[New entrants]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[Technology disruption]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[Customer consolidation]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[Regulatory changes]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Competitive Moat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Sources of Competitive Advantage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1. Switching Costs: [HIGH / MEDIUM / LOW]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[Explanation of customer lock-in]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2. Network Effects: [HIGH / MEDIUM / LOW]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[Explanation of network dynamics]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3. Cost Advantages: [HIGH / MEDIUM / LOW]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[Explanation of cost position]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4. Intangible Assets: [HIGH / MEDIUM / LOW]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[Brands, patents, regulatory licenses]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2563EB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Financial Analysis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Historical Financial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($M)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FY2022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FY2023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FY2024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CAGR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%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Gross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%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%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CapEx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% of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Free Cash 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Projected Financial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($M)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FY2025E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FY2026E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FY2027E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FY2028E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FY2029E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%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%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CapEx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($X)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Unlevered FCF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Operating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424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Peer Median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Variance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Commentary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Revenue Growth (3Y CAGR)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+/- 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[Above/Below peers]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Gross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+/- 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[Position vs peers]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EBITDA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+/- 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[Position vs peers]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FCF 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+/- 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[Quality of earnings]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Revenue per 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+/- 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[Efficiency]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Days Sales Outstanding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+/-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[Working capital]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2563EB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Valuation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Public Comparable Companies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6070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 ($M)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EV/Revenue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EV/EBITDA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Revenue Gr.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EBITDA Margin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Comp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$X,XXX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Comp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$X,XXX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Comp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$X,XXX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Comp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$X,XXX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Precedent Transactions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0332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Acquirer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 ($M)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EV/Revenue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EV/EBITDA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MM/YY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Target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Buyer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MM/YY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Target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Buyer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MM/YY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Target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Buyer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MM/YY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Target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Buyer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XX.Xx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Valuation Summary (Football Field)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[Insert Football Field chart here]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Methodology Summary: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Trading Comps: $XXX - $XXX million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Transaction Comps: $XXX - $XXX million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DCF Analysis: $XXX - $XXX million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LBO Analysis: $XXX - $XXX million (at XX% IRR)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Selected Valuation Range: $XXX - $XXX million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Implied Entry Multiple: X.Xx - X.Xx LTM EBITDA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2563EB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Transaction Analysis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Sources and Uses of Funds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503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Sources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$M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% Total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Uses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$M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% Total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Senior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Purchase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Subordinated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Refinance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Rollover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Transaction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Sponsor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Financing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Cash to B/S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Total 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Total Uses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LBO Returns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97840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Exit Year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Exit EBITDA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Exit Multiple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Exit EV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Net Debt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Equity Value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MOIC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IRR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Year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Year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Year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Year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Year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$XXX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X.Xx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2563EB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200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Investment Thesis &amp; Risks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Investment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Pillar 1: [Attractive Market Dynamics]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[Supporting point A]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[Supporting point B]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Pillar 2: [Defensible Competitive Position]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[Supporting point A]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[Supporting point B]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Pillar 3: [Multiple Paths to Value Creation]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[Organic growth initiatives]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[Margin expansion opportunities]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[M&amp;A / tuck-in potential]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Risk Assessment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029200" cy="2468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HIGH IMPACT / HIGH PROBABILITY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[Key risk 1]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[Key risk 2]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Mitigant: [Action]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029200" cy="2468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46304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HIGH IMPACT / LOW PROBABILITY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[Tail risk 1]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[Tail risk 2]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Mitigant: [Action]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23360"/>
            <a:ext cx="5029200" cy="2468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LOW IMPACT / HIGH PROBABILITY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[Operational risk 1]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[Operational risk 2]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Mitigant: [Action]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023360"/>
            <a:ext cx="5029200" cy="2468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41148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LOW IMPACT / LOW PROBABILITY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4805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• [Minor risk 1]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[Minor risk 2]</a:t>
            </a:r>
          </a:p>
          <a:p>
            <a:pPr>
              <a:defRPr sz="1000">
                <a:solidFill>
                  <a:srgbClr val="333333"/>
                </a:solidFill>
              </a:defRPr>
            </a:pPr>
            <a:r>
              <a:t>• Monitor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Value Creation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[Insert waterfall chart here]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Value Creation Sources: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Entry Equity: $XX million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(+) EBITDA Growth: $XX million (XX% of gain)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(+) Multiple Expansion: $XX million (XX% of gain)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(+) Debt Paydown: $XX million (XX% of gain)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(=) Exit Equity: $XXX million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Total Value Created: $XX million | MOIC: X.Xx | IRR: XX%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Investment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RECOMMENDATION: [INVEST / PASS / FURTHER DILIGENCE]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Key Reasons: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[Reason 1: Summarize the most compelling factor]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[Reason 2: Second most important factor]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[Reason 3: Third factor]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Key Conditions / Next Steps: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[Condition 1: e.g., Complete management meetings]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[Condition 2: e.g., Validate key customer relationships]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[Condition 3: e.g., Confirm technology DD]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Proposed Terms:</a:t>
            </a:r>
          </a:p>
          <a:p>
            <a:pPr lvl="1"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Entry Multiple: X.Xx LTM EBITDA | Equity Check: $XX million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1963</Words>
  <Application>Microsoft Office PowerPoint</Application>
  <PresentationFormat>Custom</PresentationFormat>
  <Paragraphs>579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Roberto Babaran</cp:lastModifiedBy>
  <cp:revision>1</cp:revision>
  <dcterms:created xsi:type="dcterms:W3CDTF">2013-01-27T09:14:16Z</dcterms:created>
  <dcterms:modified xsi:type="dcterms:W3CDTF">2026-02-04T21:33:27Z</dcterms:modified>
  <cp:category/>
</cp:coreProperties>
</file>