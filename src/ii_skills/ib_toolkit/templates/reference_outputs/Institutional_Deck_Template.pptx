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Test Company - Institutional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Comprehensive Investment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Company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Business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Overview of Test Company's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Company Background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Founded in [YEAR], headquartered in [LOCATION]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[Brief description of core business]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[Number of employees, locations, geographies]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Business Segments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1]: XX% of revenue - [Description]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2]: XX% of revenue - [Description]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3]: XX% of revenue - [Description]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LTM revenue breakdown by business segment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Customer concentration and retention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Customer Base Profile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Total customers: [X,XXX]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Average contract value: $[XX,XXX]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Customer retention rate: [XX%]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Top Customer Concentration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Top 10 customers: XX% of revenue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Largest customer: XX% of revenue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Average relationship tenure: [X]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Industry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Industry dynamics for Test Company's 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Total Addressable Market (TAM)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Global market size: $XX billion (2024)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Expected CAGR: X% (2024-2029)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Market Drivers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[Driver 1]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[Driver 2]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Market Headwinds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[Risk 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Porter's Five Forces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Competitive intensity assessment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2743200"/>
            <a:ext cx="2286000" cy="1188720"/>
          </a:xfrm>
          <a:prstGeom prst="ellipse">
            <a:avLst/>
          </a:prstGeom>
          <a:solidFill>
            <a:srgbClr val="00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Competitive</a:t>
            </a:r>
            <a:br/>
            <a:r>
              <a:t>Rivalry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9144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0972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Threat of</a:t>
            </a:r>
            <a:br/>
            <a:r>
              <a:t>New Entrants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5720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7548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Threat of</a:t>
            </a:r>
            <a:br/>
            <a:r>
              <a:t>Substitutes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Supplier</a:t>
            </a:r>
            <a:br/>
            <a:r>
              <a:t>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Buyer</a:t>
            </a:r>
            <a:br/>
            <a: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Industry Value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Value chain positioning and integration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Upstream (Suppliers)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[Raw materials / components suppliers]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[Technology / IP providers]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Midstream (Operations)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[Manufacturing / service delivery]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[Distribution / logistics]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Downstream (Customers)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[End customers / channel partners]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Company Position: Test Company operates in [position in value chain]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Competitive Positioning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Market share and competitive positioning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046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  <a:gridCol w="219456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Weaknesses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Test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Company filings, Capital IQ, industry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Strategic positioning assessment for Test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65B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[Market leadership]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[Proprietary technology]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[Strong relationships]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8B22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[Customer concentration]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[Geographic limitations]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[Tech gaps]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840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9632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20624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[New market expansion]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[Product extension]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[M&amp;A potential]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39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840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22222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20624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[New entrants]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[Technology disruption]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[Regulatory changes]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Competitive Moat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Durability of 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Sources of Competitive Advantage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1. Switching Costs: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customer lock-in]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2. Network Effects: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network dynamics]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3. Cost Advantages: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cost position]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4. Intangible Assets: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[Brands, patents, regulatory licenses]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Financial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Historical Financial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3-year historical performance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Free 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Company filings, management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Projected Financial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5-year projected operating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6809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188720"/>
                <a:gridCol w="1188720"/>
                <a:gridCol w="118872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FY2025E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FY2026E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FY2027E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FY2028E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FY2029E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Unlevered 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Key Operating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Benchmarking vs. peer group median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  <a:gridCol w="10972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Median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Commentary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Growth (3Y)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[vs peers]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[vs peers]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[vs peers]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FCF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[quality]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Public Comparable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Trading comparables as of [Date]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371600"/>
                <a:gridCol w="118872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EV/Rev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Capital IQ, Company filings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Precedent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Selected M&amp;A transactions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9552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188720"/>
                <a:gridCol w="118872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Acquirer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EV/Rev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Capital IQ, PitchBook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Valuation range across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[Insert football field chart here]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Methodology Summary: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Trading Comps: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Transaction Comps: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DCF Analysis: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LBO Analysis: $XXX - $XXX million (at XX% IRR)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Selected Valuation Range: $XXX - $XXX million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Implied Multiple: X.Xx - X.Xx LTM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Transaction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Sources and Uses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Transaction funding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5836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822960"/>
                <a:gridCol w="182880"/>
                <a:gridCol w="1463040"/>
                <a:gridCol w="914400"/>
                <a:gridCol w="8229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Senior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Purchase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Subordinated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Refinance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Rollover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Transaction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Sponsor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Financing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LBO Returns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Returns by exit year (base case multiple)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280160"/>
                <a:gridCol w="1280160"/>
                <a:gridCol w="128016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Yr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Equity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Returns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IRR sensitivity to key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[Insert sensitivity matrix here]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Sensitivities: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Multiple: X.Xx - X.Xx (IRR range: XX% - XX%)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Exit Multiple: X.Xx - X.Xx (IRR range: XX% - XX%)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Growth: X% - X% (IRR range: XX% - XX%)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EBITDA Margin: XX% - XX% (IRR range: XX% - XX%)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Downside Protection: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Break-even exit multiple: X.Xx (vs. entry of X.Xx)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Capital protection in downside: X.Xx MOIC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Scenario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Scenario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assumptions and returns by scenario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Bear Case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9.0x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3.0x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Scenario Key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assumptions driving each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Bear Case Assumptions (20% probability)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growth limited to GDP + inflation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Margin compression from competitive pressure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Multiple contraction to historical trough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Base Case Assumptions (60% probability)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growth aligned with industry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Margin improvement from operational initiatives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Exit multiple at entry (no expansion)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Bull Case Assumptions (20% probability)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Market share gains driving above-market growth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Full margin potential realized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Multiple expansion to premium peer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Probability-Weighted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Expected returns under probability-weighted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955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18872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Weighted MOIC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Weighted IRR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Bear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0.30x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1.6%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1.32x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Blended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Downside Protection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Downside scenario analysis and protection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Bear Case Return Profile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Bear case MOIC: 1.5x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Implies return of capital plus modest return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Key downside drivers:</a:t>
            </a:r>
          </a:p>
          <a:p>
            <a:pPr lvl="2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- Revenue shortfall: [X]% impact</a:t>
            </a:r>
          </a:p>
          <a:p>
            <a:pPr lvl="2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- Margin compression: [X]% impact</a:t>
            </a:r>
          </a:p>
          <a:p>
            <a:pPr lvl="2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- Multiple contraction: [X]% impact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Mitigants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Asset value floor: $[XXX]M (Y.Yx coverage)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Debt paydown provides equity accretion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Contractual revenue base of [X]%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Management incentive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Management vs Buyer Case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Projection Case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Management plan vs buyer underwriting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498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Management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Management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Key Variance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Justification for buyer case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Revenue Haircut Rationale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New product launch timing: [X]% haircut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Market growth assumptions: [X]% haircut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Pricing assumptions: [X]% haircut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Margin Haircut Rationale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Cost savings timing: [X] bps haircut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Synergy realization: [X] bps haircut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Investment requirements: [X] bps haircut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Total Impact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Year 5 Revenue variance: [X]%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Year 5 EBITDA variance: [X]%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IRR impact: [X] percentage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Returns Comparison (Year 5 Exit)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Return impact of buyer case haircuts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Management Case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Buyer Case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(X.Xx)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(X%)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DCF Valuation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DCF 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DCF-derived 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PV of Projection Period 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Years 1-5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PV of Terminal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multiple / perpetuity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Less: Net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As of close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Implied EV/EBITDA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Based on LTM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Free Cash Flow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Unlevered free cash flow projection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Terminal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(-) D&amp;A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(-) Taxes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(+) D&amp;A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(-)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(-) NWC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DCF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Enterprise value sensitivity to WACC and exit multiple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280160"/>
                <a:gridCol w="12801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8.0x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8.5x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9.0x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9.5x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10.0x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WACC 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WACC 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WACC 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WACC 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WACC 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Covenant Analysis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Covenant Package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Summary of financial covenant package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Covenant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Frequency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Cure Rights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 Leverage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Total Debt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- equity cure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 Interest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EBITDA /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- equity cure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Min Fixed Charge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(EBITDA-CapEx) /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Max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 annually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Carry-forward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Dividend 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Available basket + RP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Leverage Ratio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Leverage covenant compliance over projection period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412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Leverage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Covenant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Interest Coverage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Interest coverage covenant compliance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412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Interest 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Coverage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Covenant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Covenant Stress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Covenant compliance under stress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Downside Scenario Impact on Covenants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Leverage Ratio Stress Test: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Base case: X.Xx (passes with X.Xx headroom)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Bear case: X.Xx (passes with X.Xx headroom)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Break-even EBITDA: $XXM (XX% below plan)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Interest Coverage Stress Test: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Base case: X.Xx (passes with X.Xx headroom)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Bear case: X.Xx (passes with X.Xx headroom)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Break-even EBITDA: $XXM (XX% below plan)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Takeaway: Covenant package provides [adequate/tight]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Investment Thesis &amp; Risks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Core investment rationale for Test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1: [Attractive Market Dynamics]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A]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B]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2: [Defensible Competitive Position]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A]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B]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3: [Multiple Paths to Value Creation]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[Organic growth initiatives]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[Margin expansion opportunities]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[M&amp;A / tuck-in potential]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Risk Assessment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Risk prioritization and mitigation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65B"/>
                </a:solidFill>
                <a:latin typeface="Arial"/>
              </a:defRPr>
            </a:pPr>
            <a:r>
              <a:t>HIGH IMPACT / HIGH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[Key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[Key risk 2]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8B22"/>
                </a:solidFill>
                <a:latin typeface="Arial"/>
              </a:defRPr>
            </a:pPr>
            <a:r>
              <a:t>HIGH IMPACT / LOW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[Tail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840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9632"/>
                </a:solidFill>
                <a:latin typeface="Arial"/>
              </a:defRPr>
            </a:pPr>
            <a:r>
              <a:t>LOW IMPACT / HIGH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20624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[Operational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39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840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22222"/>
                </a:solidFill>
                <a:latin typeface="Arial"/>
              </a:defRPr>
            </a:pPr>
            <a:r>
              <a:t>LOW IMPACT / LOW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20624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[Minor risk]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Final investment recommendation and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RECOMMENDATION: INVEST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Reasons: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1: Most compelling factor]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2: Second factor]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3: Third factor]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Conditions / Next Steps: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[Condition 1: e.g., Complete management meetings]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[Condition 2: e.g., Validate customer relationships]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Proposed Terms: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Multiple: X.Xx LTM EBITDA | Equity Check: $XX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Target IRR: XX% | Target MOIC: X.Xx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