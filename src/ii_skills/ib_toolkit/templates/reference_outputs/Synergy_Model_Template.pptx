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321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00"/>
                </a:solidFill>
                <a:latin typeface="Arial"/>
              </a:defRPr>
            </a:pPr>
            <a:r>
              <a:t>[Company Name] - Synergy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8321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0000"/>
                </a:solidFill>
                <a:latin typeface="Arial"/>
              </a:defRPr>
            </a:pPr>
            <a:r>
              <a:t>Revenue &amp; Cost Synergies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5760720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  <a:r>
              <a:t>February 04,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65B"/>
                </a:solidFill>
                <a:latin typeface="Arial"/>
              </a:defRPr>
            </a:pPr>
            <a:r>
              <a:t>Synergy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4864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  <a:r>
              <a:t>Run-rate synergy targets by category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722376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371600"/>
                <a:gridCol w="1097280"/>
                <a:gridCol w="1097280"/>
                <a:gridCol w="109728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Run-Rate ($M)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% of Target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Timing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Confidence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Revenue Synergies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  Cross-sell opportunities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$X.X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Year 2-3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  Pricing optimization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$X.X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Year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Cost Synergies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  Headcount reduction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$X.X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Year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  Procurement savings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$X.X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Year 1-2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  Facility consolidation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$X.X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Year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Total Synergies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$XX.X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0000"/>
                </a:solidFill>
                <a:latin typeface="Arial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65B"/>
                </a:solidFill>
                <a:latin typeface="Arial"/>
              </a:defRPr>
            </a:pPr>
            <a:r>
              <a:t>Synergy Detail &amp; Assumptions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4864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  <a:r>
              <a:t>Key assumptions underlying synergy targets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8595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• Revenue Synergies ($X.XM run-rate)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Cross-sell: X% of target customer base converts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Price increase: X% on overlapping products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New product launch: $X.XM incremental revenue</a:t>
            </a:r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• Cost Synergies ($X.XM run-rate)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Corporate: X FTEs eliminated ($X.XM)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Procurement: X% savings on $XXM spend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IT/Systems: Consolidation to single platform ($X.XM)</a:t>
            </a:r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</a:p>
          <a:p>
            <a:pPr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• One-Time Costs to Achieve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Severance: $X.XM (X FTEs × $XXK avg)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Integration consulting: $X.XM</a:t>
            </a:r>
          </a:p>
          <a:p>
            <a:pPr lvl="1">
              <a:spcAft>
                <a:spcPts val="600"/>
              </a:spcAft>
              <a:defRPr sz="1000">
                <a:solidFill>
                  <a:srgbClr val="000000"/>
                </a:solidFill>
                <a:latin typeface="Arial"/>
              </a:defRPr>
            </a:pPr>
            <a:r>
              <a:t>Systems migration: $X.XM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0000"/>
                </a:solidFill>
                <a:latin typeface="Arial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65B"/>
                </a:solidFill>
                <a:latin typeface="Arial"/>
              </a:defRPr>
            </a:pPr>
            <a:r>
              <a:t>Synergy Realization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4864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Arial"/>
              </a:defRPr>
            </a:pPr>
            <a:r>
              <a:t>Phased synergy realization schedule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777240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371600"/>
                <a:gridCol w="1371600"/>
                <a:gridCol w="1371600"/>
                <a:gridCol w="137160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Synergy Type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Year 1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Year 2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Year 3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Run-Rate</a:t>
                      </a:r>
                    </a:p>
                  </a:txBody>
                  <a:tcPr>
                    <a:solidFill>
                      <a:srgbClr val="00365B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Revenue Synergies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$X.XM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Cost Synergies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XX%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$X.XM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Total Synergies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$X.XM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$XX.XM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$XX.XM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$XX.XM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One-Time Costs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($X.XM)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($X.XM)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($X.XM)</a:t>
                      </a:r>
                    </a:p>
                  </a:txBody>
                  <a:tcPr/>
                </a:tc>
              </a:tr>
              <a:tr h="320044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Net Benefit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($X.XM)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$X.XM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$XX.XM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00000"/>
                </a:solidFill>
                <a:latin typeface="Arial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